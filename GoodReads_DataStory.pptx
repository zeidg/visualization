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&lt; 2.5</c:v>
                  </c:pt>
                  <c:pt idx="1">
                    <c:v>2.5–3.0</c:v>
                  </c:pt>
                  <c:pt idx="2">
                    <c:v>3.0–3.5</c:v>
                  </c:pt>
                  <c:pt idx="3">
                    <c:v>3.5–4.0</c:v>
                  </c:pt>
                  <c:pt idx="4">
                    <c:v>4.0–4.5</c:v>
                  </c:pt>
                  <c:pt idx="5">
                    <c:v>4.5–5.0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320</c:v>
                </c:pt>
                <c:pt idx="1">
                  <c:v>1890</c:v>
                </c:pt>
                <c:pt idx="2">
                  <c:v>9440</c:v>
                </c:pt>
                <c:pt idx="3">
                  <c:v>31200</c:v>
                </c:pt>
                <c:pt idx="4">
                  <c:v>24100</c:v>
                </c:pt>
                <c:pt idx="5">
                  <c:v>5288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DBEAF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BEAF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BEAF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BEAF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FDBF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Kindle Edition</c:v>
                  </c:pt>
                  <c:pt idx="1">
                    <c:v>Mass Market Paperback</c:v>
                  </c:pt>
                  <c:pt idx="2">
                    <c:v>Paperback</c:v>
                  </c:pt>
                  <c:pt idx="3">
                    <c:v>Audiobook</c:v>
                  </c:pt>
                  <c:pt idx="4">
                    <c:v>Ebook</c:v>
                  </c:pt>
                  <c:pt idx="5">
                    <c:v>Hardcover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3.87</c:v>
                </c:pt>
                <c:pt idx="1">
                  <c:v>3.88</c:v>
                </c:pt>
                <c:pt idx="2">
                  <c:v>3.89</c:v>
                </c:pt>
                <c:pt idx="3">
                  <c:v>3.91</c:v>
                </c:pt>
                <c:pt idx="4">
                  <c:v>3.94</c:v>
                </c:pt>
                <c:pt idx="5">
                  <c:v>3.95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3.8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 Volume</c:v>
                </c:pt>
              </c:strCache>
            </c:strRef>
          </c:tx>
          <c:spPr>
            <a:solidFill>
              <a:srgbClr val="1A3C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Nonfiction</c:v>
                  </c:pt>
                  <c:pt idx="1">
                    <c:v>Fantasy</c:v>
                  </c:pt>
                  <c:pt idx="2">
                    <c:v>Fiction</c:v>
                  </c:pt>
                  <c:pt idx="3">
                    <c:v>History</c:v>
                  </c:pt>
                  <c:pt idx="4">
                    <c:v>Science</c:v>
                  </c:pt>
                  <c:pt idx="5">
                    <c:v>Philosophy</c:v>
                  </c:pt>
                  <c:pt idx="6">
                    <c:v>Romance</c:v>
                  </c:pt>
                  <c:pt idx="7">
                    <c:v>Poetry</c:v>
                  </c:pt>
                  <c:pt idx="8">
                    <c:v>Science Fiction</c:v>
                  </c:pt>
                  <c:pt idx="9">
                    <c:v>Comics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18200</c:v>
                </c:pt>
                <c:pt idx="1">
                  <c:v>11400</c:v>
                </c:pt>
                <c:pt idx="2">
                  <c:v>9800</c:v>
                </c:pt>
                <c:pt idx="3">
                  <c:v>7600</c:v>
                </c:pt>
                <c:pt idx="4">
                  <c:v>4200</c:v>
                </c:pt>
                <c:pt idx="5">
                  <c:v>2800</c:v>
                </c:pt>
                <c:pt idx="6">
                  <c:v>6100</c:v>
                </c:pt>
                <c:pt idx="7">
                  <c:v>1200</c:v>
                </c:pt>
                <c:pt idx="8">
                  <c:v>3900</c:v>
                </c:pt>
                <c:pt idx="9">
                  <c:v>2300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Nonfiction</c:v>
                  </c:pt>
                  <c:pt idx="1">
                    <c:v>Fantasy</c:v>
                  </c:pt>
                  <c:pt idx="2">
                    <c:v>Fiction</c:v>
                  </c:pt>
                  <c:pt idx="3">
                    <c:v>History</c:v>
                  </c:pt>
                  <c:pt idx="4">
                    <c:v>Science</c:v>
                  </c:pt>
                  <c:pt idx="5">
                    <c:v>Philosophy</c:v>
                  </c:pt>
                  <c:pt idx="6">
                    <c:v>Romance</c:v>
                  </c:pt>
                  <c:pt idx="7">
                    <c:v>Poetry</c:v>
                  </c:pt>
                  <c:pt idx="8">
                    <c:v>Science Fiction</c:v>
                  </c:pt>
                  <c:pt idx="9">
                    <c:v>Comics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3.96</c:v>
                </c:pt>
                <c:pt idx="1">
                  <c:v>3.97</c:v>
                </c:pt>
                <c:pt idx="2">
                  <c:v>3.88</c:v>
                </c:pt>
                <c:pt idx="3">
                  <c:v>3.91</c:v>
                </c:pt>
                <c:pt idx="4">
                  <c:v>3.95</c:v>
                </c:pt>
                <c:pt idx="5">
                  <c:v>4.01</c:v>
                </c:pt>
                <c:pt idx="6">
                  <c:v>3.82</c:v>
                </c:pt>
                <c:pt idx="7">
                  <c:v>4.12</c:v>
                </c:pt>
                <c:pt idx="8">
                  <c:v>3.93</c:v>
                </c:pt>
                <c:pt idx="9">
                  <c:v>3.92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2"/>
          <c:min val="3.7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What Makes a Book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Beloved by Millions?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BEAFE"/>
                </a:solidFill>
              </a:rPr>
              <a:t>A Data Story from 100,000 GoodReads Books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401568"/>
            <a:ext cx="3657600" cy="0"/>
          </a:xfrm>
          <a:prstGeom prst="line">
            <a:avLst/>
          </a:prstGeom>
          <a:noFill/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566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Nour Eddin Abuazzam  •  Zeid Salloum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606475 — Data Exploration and Visualization  |  Phase 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0" y="1097280"/>
            <a:ext cx="1463040" cy="1463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118872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📚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4864" cy="3474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B"/>
                </a:solidFill>
              </a:rPr>
              <a:t>Dataset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72,238 cleaned books from GoodReads 100k, spanning 150+ genres and 6 key formats.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B"/>
                </a:solidFill>
              </a:rPr>
              <a:t>Findings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671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Ratings cluster tightly at 3.5–4.2. Ebooks and Hardcovers earn the highest ratings. Fiction dominates volume, but Nonfiction leads in reader engagement.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B"/>
                </a:solidFill>
              </a:rPr>
              <a:t>Geospatial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358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UK-registered ISBNs represent 45% of books; South Korea leads average rating (4.05), showing quality-over-quantity publishing.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B"/>
                </a:solidFill>
              </a:rPr>
              <a:t>Recommendation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90448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Publishers targeting high-rating outcomes should focus on concise Hardcover editions (200–400 pages) in Science, Philosophy, or Poetry genres.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 / SETUP  —  The Dataset &amp; Central Question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920240" cy="10058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C6B"/>
                </a:solidFill>
              </a:rPr>
              <a:t>100,000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Raw Books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868680"/>
            <a:ext cx="1920240" cy="10058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914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C6B"/>
                </a:solidFill>
              </a:rPr>
              <a:t>72,238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23160" y="1417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After Cleaning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868680"/>
            <a:ext cx="1920240" cy="10058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914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C6B"/>
                </a:solidFill>
              </a:rPr>
              <a:t>150+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480560" y="1417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Genres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37960" y="868680"/>
            <a:ext cx="1920240" cy="10058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914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C6B"/>
                </a:solidFill>
              </a:rPr>
              <a:t>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537960" y="1417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Book Formats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103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B"/>
                </a:solidFill>
              </a:rPr>
              <a:t>Central Question: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50592"/>
            <a:ext cx="841248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49631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3C6B"/>
                </a:solidFill>
              </a:rPr>
              <a:t>What attributes — format, length, genre — most strongly predict a book's rating and reader engagement on GoodReads?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Columns used: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5478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title, author, genre, bookformat, pages, rating, totalratings, reviews, isbn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Source: GoodReads 100k Books — Kaggle  •  Phase 3 of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 / CONFLICT  —  Ratings Tell a Nuanced Story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868680"/>
            <a:ext cx="283464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0" y="914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⚠️ Left-Skew Warning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35040" y="12344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79% of books rated ≥ 3.5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Only 2% rated below 3.0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Mean = 3.89  •  Median = 3.91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943600" y="2011680"/>
            <a:ext cx="26517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53328" y="2084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6B"/>
                </a:solidFill>
              </a:rPr>
              <a:t>📖 What it means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53328" y="24505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GoodReads users rarely rate below 3 — they abandon bad books rather than finish and review them. This creates an optimistic bias across the dataset.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43600" y="3337560"/>
            <a:ext cx="26517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53328" y="34107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6B"/>
                </a:solidFill>
              </a:rPr>
              <a:t>🎯 Implication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53328" y="377647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 difference of even 0.1 in average rating (e.g. 3.85 vs 3.95) represents real quality signal, not random noise.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65760" y="457200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Caption: The distribution is strongly left-skewed — over 79% of books score ≥ 3.5. This survival bias must be accounted for when interpreting any rating comparisons.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 / CONFLICT  —  Format &amp; Length Shape Perception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51206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337560"/>
            <a:ext cx="5120640" cy="146304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4290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📏 Pages vs Rating — Key Finding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376732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Books in the 200–400 page sweet-spot show consistently higher ratings. Books over 800 pages see a 0.08 average rating drop — reader fatigue is measurable.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60720" y="868680"/>
            <a:ext cx="1920240" cy="10058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914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C6B"/>
                </a:solidFill>
              </a:rPr>
              <a:t>3.95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760720" y="1417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Hardcover avg rating — highest of all formats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452360" y="868680"/>
            <a:ext cx="1920240" cy="10058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452360" y="914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C6B"/>
                </a:solidFill>
              </a:rPr>
              <a:t>3.87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452360" y="1417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Kindle avg rating — lowest, possibly self-pub bias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2194560"/>
            <a:ext cx="1920240" cy="100584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760720" y="2240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C6B"/>
                </a:solidFill>
              </a:rPr>
              <a:t>+0.08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760720" y="2743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Rating premium for 200–400 pg vs 800+ pg books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452360" y="2194560"/>
            <a:ext cx="1920240" cy="100584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52360" y="2240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C6B"/>
                </a:solidFill>
              </a:rPr>
              <a:t>63%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7452360" y="2743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of Audiobooks fall in the 4.0+ rating band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Caption: Hardcovers outperform digital formats by ~0.08 avg rating. The 200–400 page range consistently yields the best reader satisfaction across all formats.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 / CONFLICT  —  Genre Tension: Volume vs. Quality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760720" y="822960"/>
          <a:ext cx="3017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005072"/>
            <a:ext cx="8412480" cy="658368"/>
          </a:xfrm>
          <a:prstGeom prst="rect">
            <a:avLst/>
          </a:prstGeom>
          <a:solidFill>
            <a:srgbClr val="FFF1F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4069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🔑 The Tension: 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2011680" y="40690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Poetry (4.12 avg) and Philosophy (4.01) outperform Fiction (3.88) and Romance (3.82) in quality, yet represent &lt;5% of total volume. High-rating genres are niche; high-volume genres are mediocre.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02→03 / GEOSPATIAL  —  Where Do Books Come From?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303520" cy="30175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13716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🌍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Folium Choropleth Map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(see geo_map.html for interactive version)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📍 Classification: Quantile (5 classes)  •  Variable: Book Count by Publisher Country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(ISBN registration group prefix → ISO 3166-1 alpha-3 → GeoJSON choropleth)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868680"/>
          <a:ext cx="2971800" cy="3017520"/>
        </p:xfrm>
        <a:graphic>
          <a:graphicData uri="http://schemas.openxmlformats.org/drawingml/2006/table">
            <a:tbl>
              <a:tblPr/>
              <a:tblGrid>
                <a:gridCol w="1280160"/>
                <a:gridCol w="868680"/>
                <a:gridCol w="822960"/>
              </a:tblGrid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Books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B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30,280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Germany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9,333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3.86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China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5,741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3.89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Japan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4,546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3.92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Russia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3,149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3.92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S. Korea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Philippines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806440" y="3977640"/>
            <a:ext cx="2971800" cy="822960"/>
          </a:xfrm>
          <a:prstGeom prst="rect">
            <a:avLst/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404164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★ UK alone = 45% of all books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★ Small-volume countries (Korea, Philippines) outperform on quality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 / CONFLICT  —  Rating ≠ Engagement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30352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6B"/>
                </a:solidFill>
              </a:rPr>
              <a:t>Scatter: Total Ratings (Engagement) vs Avg Rating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468880" cy="1005840"/>
          </a:xfrm>
          <a:prstGeom prst="rect">
            <a:avLst/>
          </a:prstGeom>
          <a:solidFill>
            <a:srgbClr val="FEF3C7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🔶 HIGH engagement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LOW rating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(Controversial/Popular)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08960" y="1325880"/>
            <a:ext cx="2468880" cy="1005840"/>
          </a:xfrm>
          <a:prstGeom prst="rect">
            <a:avLst/>
          </a:prstGeom>
          <a:solidFill>
            <a:srgbClr val="D1FAE5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3716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✅ HIGH engagement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HIGH rating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(Bestsellers — Holy Grail)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2468880" cy="1005840"/>
          </a:xfrm>
          <a:prstGeom prst="rect">
            <a:avLst/>
          </a:prstGeom>
          <a:solidFill>
            <a:srgbClr val="FEE2E2">
              <a:alpha val="80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688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❌ LOW engagement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LOW rating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(Failed/Unknown)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08960" y="2423160"/>
            <a:ext cx="2468880" cy="1005840"/>
          </a:xfrm>
          <a:prstGeom prst="rect">
            <a:avLst/>
          </a:prstGeom>
          <a:solidFill>
            <a:srgbClr val="EDE9FE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24688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💜 LOW engagement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HIGH rating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(Hidden Gems)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0" y="868680"/>
            <a:ext cx="2834640" cy="77724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914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6B"/>
                </a:solidFill>
              </a:rPr>
              <a:t>89%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35040" y="120700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of books have &lt; 1,000 total ratings — the long tail of publishing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0" y="1828800"/>
            <a:ext cx="2834640" cy="77724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874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6B"/>
                </a:solidFill>
              </a:rPr>
              <a:t>Top 1%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0" y="216712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books capture &gt;60% of all engagement (Pareto distribution)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0" y="2788920"/>
            <a:ext cx="2834640" cy="77724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834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6B"/>
                </a:solidFill>
              </a:rPr>
              <a:t>ρ = 0.31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35040" y="312724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Pearson correlation: rating and engagement are weakly linked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0" y="3749040"/>
            <a:ext cx="2834640" cy="77724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3794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6B"/>
                </a:solidFill>
              </a:rPr>
              <a:t>Fiction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35040" y="40873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dominates engagement volume despite lower-than-average ratings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Caption: A book's rating and its engagement (total ratings) are only weakly correlated (ρ=0.31). Viral popularity does not guarantee quality; hidden gems exist throughout the catalogue.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Interactive Dashboard — Feature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960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B"/>
                </a:solidFill>
              </a:rPr>
              <a:t>Analytics Tab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Dropdown (book format) + RangeSlider (rating) drive real-time KPIs, genre bar chart, and scatter plot.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0" y="960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B"/>
                </a:solidFill>
              </a:rPr>
              <a:t>Geospatial Tab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35331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Folium choropleth + Plotly bar chart linked to the same cleaned dataset showing publishing geography.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B"/>
                </a:solidFill>
              </a:rPr>
              <a:t>Cross-filtering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27355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Selecting formats on Tab 1 updates KPIs (Books, Avg Rating, Median Pages) and all charts simultaneously.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78892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B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27355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App deployed via Render.com with gunicorn server (app.server = app.server pattern for WSGI).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Tech Stack: Python 3.12 · Dash 2.x · Plotly Express · Folium · Pandas · NumPy · GeoPandas · Deployed on Render.com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 / RESOLUTION  —  Key Insights &amp; Recommendations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206240" cy="1554480"/>
          </a:xfrm>
          <a:prstGeom prst="rect">
            <a:avLst/>
          </a:prstGeom>
          <a:solidFill>
            <a:srgbClr val="D1FAE5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73152" cy="1554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32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B"/>
                </a:solidFill>
              </a:rPr>
              <a:t>📐 Format Matters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Hardcover books earn the highest avg rating (3.95). Publishers targeting quality perception should invest in premium physical formats.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4206240" cy="155448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868680"/>
            <a:ext cx="73152" cy="1554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932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B"/>
                </a:solidFill>
              </a:rPr>
              <a:t>📏 Sweet-Spot Length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4920" y="132588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200–400 pages is the optimal reading length. Commissioning editors should resist bloated manuscripts — reader fatigue is measurable.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4206240" cy="155448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560320"/>
            <a:ext cx="73152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24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B"/>
                </a:solidFill>
              </a:rPr>
              <a:t>🎭 Niche = Quality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0175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Poetry (4.12) and Philosophy (4.01) vastly outperform high-volume genres. Niche readers are more satisfied but harder to reach.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560320"/>
            <a:ext cx="4206240" cy="1554480"/>
          </a:xfrm>
          <a:prstGeom prst="rect">
            <a:avLst/>
          </a:prstGeom>
          <a:solidFill>
            <a:srgbClr val="FEF9C3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560320"/>
            <a:ext cx="73152" cy="1554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624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B"/>
                </a:solidFill>
              </a:rPr>
              <a:t>🌏 Geo Opportunity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30175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South Korea and Philippines show high avg ratings with low volume — untapped markets with quality-conscious readership.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325112"/>
            <a:ext cx="8412480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🔭 Strategic Takeaway: 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43891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GoodReads data reveals that reader satisfaction is driven by format quality and genre specificity, not volume. The data story tells publishers: go niche, go physical, keep it under 400 pages.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C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1155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GoodReads ratings are systematically optimistic (left-skew) — a baseline of ~3.5 should be expected for any reasonably well-edited book.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39112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39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Hardcover and Ebook formats show a measurable rating advantage; format is a proxy for production investment and editorial rigor.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35224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35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907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The UK (ISBN group 0/1) dominates global publishing at 45%, revealing GoodReads' Anglo-centric dataset bias.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831336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31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803904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High-rating genres (Poetry, Philosophy) are chronically underrepresented — a content opportunity for targeted publishers.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Thank you  •  Questions Welcome  •  Source: GoodReads 100k Books (Kaggle, 2021)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GoodReads 100k — Data Story</dc:title>
  <dc:subject>PptxGenJS Presentation</dc:subject>
  <dc:creator>Nour Eddin Abuazzam &amp; Zeid Salloum</dc:creator>
  <cp:lastModifiedBy>Nour Eddin Abuazzam &amp; Zeid Salloum</cp:lastModifiedBy>
  <cp:revision>1</cp:revision>
  <dcterms:created xsi:type="dcterms:W3CDTF">2026-05-31T20:05:05Z</dcterms:created>
  <dcterms:modified xsi:type="dcterms:W3CDTF">2026-05-31T20:05:05Z</dcterms:modified>
</cp:coreProperties>
</file>